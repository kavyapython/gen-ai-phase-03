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2651760" cy="2194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3200" b="1">
                <a:solidFill>
                  <a:srgbClr val="FFFFFF"/>
                </a:solidFill>
                <a:latin typeface="Times New Roman"/>
              </a:rPr>
              <a:t>MACROOPS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9080" y="1005840"/>
            <a:ext cx="740664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900" b="1">
                <a:solidFill>
                  <a:srgbClr val="142440"/>
                </a:solidFill>
                <a:latin typeface="Times New Roman"/>
              </a:rPr>
              <a:t>GenAI-Powered Fulfillment &amp;
Last-Mile Operations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6512" y="2697480"/>
            <a:ext cx="7132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189191"/>
                </a:solidFill>
                <a:latin typeface="Times New Roman"/>
              </a:rPr>
              <a:t>PHASE 03 • PRODUCT DEVELOPMENT &amp; AGILE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6512" y="36576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5F6973"/>
                </a:solidFill>
                <a:latin typeface="Times New Roman"/>
              </a:rPr>
              <a:t>Presented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6512" y="4023360"/>
            <a:ext cx="5486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232B34"/>
                </a:solidFill>
                <a:latin typeface="Times New Roman"/>
              </a:rPr>
              <a:t>T. Kavya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6512" y="470916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5F6973"/>
                </a:solidFill>
                <a:latin typeface="Times New Roman"/>
              </a:rPr>
              <a:t>Guided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6512" y="5074920"/>
            <a:ext cx="6400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1">
                <a:solidFill>
                  <a:srgbClr val="232B34"/>
                </a:solidFill>
                <a:latin typeface="Times New Roman"/>
              </a:rPr>
              <a:t>Sagar Sakalley Sir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6512" y="580644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F6973"/>
                </a:solidFill>
                <a:latin typeface="Times New Roman"/>
              </a:rPr>
              <a:t>September 07 – November 30,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FFFFFF"/>
                </a:solidFill>
                <a:latin typeface="Times New Roman"/>
              </a:rP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F6973"/>
                </a:solidFill>
                <a:latin typeface="Times New Roman"/>
              </a:rPr>
              <a:t>MacroOps AI • Phase 03 Product Development &amp; Agile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685800" y="1097280"/>
            <a:ext cx="73152" cy="169164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5039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MacroOps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A GenAI-powered fulfillment and last-mile operations intelligence platform for quick-commerce, e-commerce and retail operations.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69164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8251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Operational Areas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Orders • Inventory • Picking &amp; packing • Workforce • Rider allocation • Delivery • SLA monitoring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546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6" name="Rectangle 15"/>
          <p:cNvSpPr/>
          <p:nvPr/>
        </p:nvSpPr>
        <p:spPr>
          <a:xfrm>
            <a:off x="685800" y="3154680"/>
            <a:ext cx="73152" cy="1691640"/>
          </a:xfrm>
          <a:prstGeom prst="rect">
            <a:avLst/>
          </a:prstGeom>
          <a:solidFill>
            <a:srgbClr val="E0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50392" y="32461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Core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6118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KPI monitoring • Exception detection • Root-cause analysis • SLA risk prediction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1546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0" name="Rectangle 19"/>
          <p:cNvSpPr/>
          <p:nvPr/>
        </p:nvSpPr>
        <p:spPr>
          <a:xfrm>
            <a:off x="6217920" y="3154680"/>
            <a:ext cx="73152" cy="1691640"/>
          </a:xfrm>
          <a:prstGeom prst="rect">
            <a:avLst/>
          </a:prstGeom>
          <a:solidFill>
            <a:srgbClr val="2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82512" y="32461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AI Capabilities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6118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GenAI Operations Copilot • RAG knowledge assistance • Frontline AI support •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FFFFFF"/>
                </a:solidFill>
                <a:latin typeface="Times New Roman"/>
              </a:rP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F6973"/>
                </a:solidFill>
                <a:latin typeface="Times New Roman"/>
              </a:rPr>
              <a:t>MacroOps AI • Phase 03 Product Development &amp; Agile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685800" y="1097280"/>
            <a:ext cx="73152" cy="1691640"/>
          </a:xfrm>
          <a:prstGeom prst="rect">
            <a:avLst/>
          </a:prstGeom>
          <a:solidFill>
            <a:srgbClr val="E0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5039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Operational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Dynamic fulfillment and last-mile networks face delays, inventory discrepancies, stockouts, workforce constraints and SLA risks.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69164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8251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Current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Managers may depend on dashboards and spreadsheets; investigation and SOP lookup can be manual and reactive.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546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6" name="Rectangle 15"/>
          <p:cNvSpPr/>
          <p:nvPr/>
        </p:nvSpPr>
        <p:spPr>
          <a:xfrm>
            <a:off x="685800" y="3154680"/>
            <a:ext cx="73152" cy="169164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50392" y="32461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Need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6118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A unified platform that detects issues early, explains causes, predicts risks and recommends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FFFFFF"/>
                </a:solidFill>
                <a:latin typeface="Times New Roman"/>
              </a:rPr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F6973"/>
                </a:solidFill>
                <a:latin typeface="Times New Roman"/>
              </a:rPr>
              <a:t>MacroOps AI • Phase 03 Product Development &amp; Agile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960120"/>
            <a:ext cx="521208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685800" y="960120"/>
            <a:ext cx="73152" cy="96012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50392" y="105156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17320"/>
            <a:ext cx="493776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32B34"/>
                </a:solidFill>
                <a:latin typeface="Times New Roman"/>
              </a:rPr>
              <a:t>Track fulfillment and last-mile KPIs and operational performance.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960120"/>
            <a:ext cx="521208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2" name="Rectangle 11"/>
          <p:cNvSpPr/>
          <p:nvPr/>
        </p:nvSpPr>
        <p:spPr>
          <a:xfrm>
            <a:off x="6217920" y="960120"/>
            <a:ext cx="73152" cy="96012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82512" y="105156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Detect &amp; Explain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417320"/>
            <a:ext cx="493776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32B34"/>
                </a:solidFill>
                <a:latin typeface="Times New Roman"/>
              </a:rPr>
              <a:t>Identify exceptions and support root-cause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130552"/>
            <a:ext cx="521208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6" name="Rectangle 15"/>
          <p:cNvSpPr/>
          <p:nvPr/>
        </p:nvSpPr>
        <p:spPr>
          <a:xfrm>
            <a:off x="685800" y="2130552"/>
            <a:ext cx="73152" cy="960120"/>
          </a:xfrm>
          <a:prstGeom prst="rect">
            <a:avLst/>
          </a:prstGeom>
          <a:solidFill>
            <a:srgbClr val="E0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50392" y="2221992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Predict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2587752"/>
            <a:ext cx="493776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32B34"/>
                </a:solidFill>
                <a:latin typeface="Times New Roman"/>
              </a:rPr>
              <a:t>Estimate SLA and operational risks before failures become severe.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130552"/>
            <a:ext cx="521208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0" name="Rectangle 19"/>
          <p:cNvSpPr/>
          <p:nvPr/>
        </p:nvSpPr>
        <p:spPr>
          <a:xfrm>
            <a:off x="6217920" y="2130552"/>
            <a:ext cx="73152" cy="960120"/>
          </a:xfrm>
          <a:prstGeom prst="rect">
            <a:avLst/>
          </a:prstGeom>
          <a:solidFill>
            <a:srgbClr val="2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82512" y="2221992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Assist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587752"/>
            <a:ext cx="493776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32B34"/>
                </a:solidFill>
                <a:latin typeface="Times New Roman"/>
              </a:rPr>
              <a:t>Provide GenAI natural-language interaction, RAG-based SOP guidance and frontline assistance.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300984"/>
            <a:ext cx="521208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4" name="Rectangle 23"/>
          <p:cNvSpPr/>
          <p:nvPr/>
        </p:nvSpPr>
        <p:spPr>
          <a:xfrm>
            <a:off x="685800" y="3300984"/>
            <a:ext cx="73152" cy="960120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50392" y="3392424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Measure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3758184"/>
            <a:ext cx="493776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32B34"/>
                </a:solidFill>
                <a:latin typeface="Times New Roman"/>
              </a:rPr>
              <a:t>Evaluate potential impact on SLA performance, accuracy, productivity and decision speed.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FFFFFF"/>
                </a:solidFill>
                <a:latin typeface="Times New Roman"/>
              </a:rPr>
              <a:t>4. Motivation /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F6973"/>
                </a:solidFill>
                <a:latin typeface="Times New Roman"/>
              </a:rPr>
              <a:t>MacroOps AI • Phase 03 Product Development &amp; Agile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685800" y="1097280"/>
            <a:ext cx="73152" cy="169164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5039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Business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Fast, accurate fulfillment and reliable delivery commitments are critical in quick-commerce and e-commerce.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69164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8251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Decision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Managers need faster visibility into bottlenecks, exceptions, risks and corrective 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546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6" name="Rectangle 15"/>
          <p:cNvSpPr/>
          <p:nvPr/>
        </p:nvSpPr>
        <p:spPr>
          <a:xfrm>
            <a:off x="685800" y="3154680"/>
            <a:ext cx="73152" cy="1691640"/>
          </a:xfrm>
          <a:prstGeom prst="rect">
            <a:avLst/>
          </a:prstGeom>
          <a:solidFill>
            <a:srgbClr val="E0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50392" y="32461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AI Opportunity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6118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GenAI can simplify operational queries and explanations while keeping human approval in the loop.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FFFFFF"/>
                </a:solidFill>
                <a:latin typeface="Times New Roman"/>
              </a:rPr>
              <a:t>5. Three-Month Project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F6973"/>
                </a:solidFill>
                <a:latin typeface="Times New Roman"/>
              </a:rPr>
              <a:t>MacroOps AI • Phase 03 Product Development &amp; Agile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685800" y="1097280"/>
            <a:ext cx="73152" cy="169164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5039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Month 01 — September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Business discovery • Product strategy • Requirements • Stakeholder analysis • PRD • MVP scope • Planning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69164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8251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Month 02 — October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Data &amp; analytics • AI/GenAI • RAG • Dashboard • SLA prediction • Exception workflow • MVP development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546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6" name="Rectangle 15"/>
          <p:cNvSpPr/>
          <p:nvPr/>
        </p:nvSpPr>
        <p:spPr>
          <a:xfrm>
            <a:off x="685800" y="3154680"/>
            <a:ext cx="73152" cy="1691640"/>
          </a:xfrm>
          <a:prstGeom prst="rect">
            <a:avLst/>
          </a:prstGeom>
          <a:solidFill>
            <a:srgbClr val="E0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50392" y="32461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Month 03 — November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6118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Integration • Testing • UAT • GenAI evaluation • Deployment • Business impact • Documentation •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FFFFFF"/>
                </a:solidFill>
                <a:latin typeface="Times New Roman"/>
              </a:rPr>
              <a:t>6. Data Foundation &amp;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F6973"/>
                </a:solidFill>
                <a:latin typeface="Times New Roman"/>
              </a:rPr>
              <a:t>MacroOps AI • Phase 03 Product Development &amp; Agile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960120"/>
            <a:ext cx="521208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685800" y="960120"/>
            <a:ext cx="73152" cy="96012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50392" y="105156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17320"/>
            <a:ext cx="493776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32B34"/>
                </a:solidFill>
                <a:latin typeface="Times New Roman"/>
              </a:rPr>
              <a:t>100,000 orders • SLA status • promised/actual time • order value • delivery delay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960120"/>
            <a:ext cx="521208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2" name="Rectangle 11"/>
          <p:cNvSpPr/>
          <p:nvPr/>
        </p:nvSpPr>
        <p:spPr>
          <a:xfrm>
            <a:off x="6217920" y="960120"/>
            <a:ext cx="73152" cy="96012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82512" y="105156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417320"/>
            <a:ext cx="493776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32B34"/>
                </a:solidFill>
                <a:latin typeface="Times New Roman"/>
              </a:rPr>
              <a:t>40,000 records • stockout detection • inventory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130552"/>
            <a:ext cx="521208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6" name="Rectangle 15"/>
          <p:cNvSpPr/>
          <p:nvPr/>
        </p:nvSpPr>
        <p:spPr>
          <a:xfrm>
            <a:off x="685800" y="2130552"/>
            <a:ext cx="73152" cy="960120"/>
          </a:xfrm>
          <a:prstGeom prst="rect">
            <a:avLst/>
          </a:prstGeom>
          <a:solidFill>
            <a:srgbClr val="E0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50392" y="2221992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2587752"/>
            <a:ext cx="493776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32B34"/>
                </a:solidFill>
                <a:latin typeface="Times New Roman"/>
              </a:rPr>
              <a:t>Distance • rider assignment delay • delivery performance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130552"/>
            <a:ext cx="521208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0" name="Rectangle 19"/>
          <p:cNvSpPr/>
          <p:nvPr/>
        </p:nvSpPr>
        <p:spPr>
          <a:xfrm>
            <a:off x="6217920" y="2130552"/>
            <a:ext cx="73152" cy="960120"/>
          </a:xfrm>
          <a:prstGeom prst="rect">
            <a:avLst/>
          </a:prstGeom>
          <a:solidFill>
            <a:srgbClr val="2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82512" y="2221992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Picking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587752"/>
            <a:ext cx="493776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32B34"/>
                </a:solidFill>
                <a:latin typeface="Times New Roman"/>
              </a:rPr>
              <a:t>Pick duration • items picked • items missing • productivity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300984"/>
            <a:ext cx="521208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4" name="Rectangle 23"/>
          <p:cNvSpPr/>
          <p:nvPr/>
        </p:nvSpPr>
        <p:spPr>
          <a:xfrm>
            <a:off x="685800" y="3300984"/>
            <a:ext cx="73152" cy="960120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50392" y="3392424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Workforce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3758184"/>
            <a:ext cx="493776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32B34"/>
                </a:solidFill>
                <a:latin typeface="Times New Roman"/>
              </a:rPr>
              <a:t>Employees • completed tasks • pending tasks • backlog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FFFFFF"/>
                </a:solidFill>
                <a:latin typeface="Times New Roman"/>
              </a:rPr>
              <a:t>7.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F6973"/>
                </a:solidFill>
                <a:latin typeface="Times New Roman"/>
              </a:rPr>
              <a:t>MacroOps AI • Phase 03 Product Development &amp; Agile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685800" y="1097280"/>
            <a:ext cx="73152" cy="169164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5039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Data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Operational CSV datasets → validation → cleaning → derived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69164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8251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Analytics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KPIs → business analytics → exception detection → operational insights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546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6" name="Rectangle 15"/>
          <p:cNvSpPr/>
          <p:nvPr/>
        </p:nvSpPr>
        <p:spPr>
          <a:xfrm>
            <a:off x="685800" y="3154680"/>
            <a:ext cx="73152" cy="1691640"/>
          </a:xfrm>
          <a:prstGeom prst="rect">
            <a:avLst/>
          </a:prstGeom>
          <a:solidFill>
            <a:srgbClr val="E0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50392" y="32461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AI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6118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SLA risk classification → GenAI → RAG → frontline assistance → recommendations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1546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0" name="Rectangle 19"/>
          <p:cNvSpPr/>
          <p:nvPr/>
        </p:nvSpPr>
        <p:spPr>
          <a:xfrm>
            <a:off x="6217920" y="3154680"/>
            <a:ext cx="73152" cy="1691640"/>
          </a:xfrm>
          <a:prstGeom prst="rect">
            <a:avLst/>
          </a:prstGeom>
          <a:solidFill>
            <a:srgbClr val="2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82512" y="32461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Application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6118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Streamlit dashboard integrates analytics, AI and workflow views into one MVP.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FFFFFF"/>
                </a:solidFill>
                <a:latin typeface="Times New Roman"/>
              </a:rPr>
              <a:t>8. Implemented MVP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F6973"/>
                </a:solidFill>
                <a:latin typeface="Times New Roman"/>
              </a:rPr>
              <a:t>MacroOps AI • Phase 03 Product Development &amp; Agile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960120"/>
            <a:ext cx="521208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685800" y="960120"/>
            <a:ext cx="73152" cy="96012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50392" y="105156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17320"/>
            <a:ext cx="493776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32B34"/>
                </a:solidFill>
                <a:latin typeface="Times New Roman"/>
              </a:rPr>
              <a:t>Executive KPIs and operational overview.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960120"/>
            <a:ext cx="521208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2" name="Rectangle 11"/>
          <p:cNvSpPr/>
          <p:nvPr/>
        </p:nvSpPr>
        <p:spPr>
          <a:xfrm>
            <a:off x="6217920" y="960120"/>
            <a:ext cx="73152" cy="96012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82512" y="105156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SLA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417320"/>
            <a:ext cx="493776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32B34"/>
                </a:solidFill>
                <a:latin typeface="Times New Roman"/>
              </a:rPr>
              <a:t>SLA breach analysis and risk 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130552"/>
            <a:ext cx="521208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6" name="Rectangle 15"/>
          <p:cNvSpPr/>
          <p:nvPr/>
        </p:nvSpPr>
        <p:spPr>
          <a:xfrm>
            <a:off x="685800" y="2130552"/>
            <a:ext cx="73152" cy="960120"/>
          </a:xfrm>
          <a:prstGeom prst="rect">
            <a:avLst/>
          </a:prstGeom>
          <a:solidFill>
            <a:srgbClr val="E0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50392" y="2221992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Exception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2587752"/>
            <a:ext cx="493776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32B34"/>
                </a:solidFill>
                <a:latin typeface="Times New Roman"/>
              </a:rPr>
              <a:t>SLA, inventory, delivery, picking and workforce exceptions.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130552"/>
            <a:ext cx="521208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0" name="Rectangle 19"/>
          <p:cNvSpPr/>
          <p:nvPr/>
        </p:nvSpPr>
        <p:spPr>
          <a:xfrm>
            <a:off x="6217920" y="2130552"/>
            <a:ext cx="73152" cy="960120"/>
          </a:xfrm>
          <a:prstGeom prst="rect">
            <a:avLst/>
          </a:prstGeom>
          <a:solidFill>
            <a:srgbClr val="2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82512" y="2221992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Inventory / Delivery / Picking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587752"/>
            <a:ext cx="493776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32B34"/>
                </a:solidFill>
                <a:latin typeface="Times New Roman"/>
              </a:rPr>
              <a:t>Operational performance and bottleneck analytics.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300984"/>
            <a:ext cx="521208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4" name="Rectangle 23"/>
          <p:cNvSpPr/>
          <p:nvPr/>
        </p:nvSpPr>
        <p:spPr>
          <a:xfrm>
            <a:off x="685800" y="3300984"/>
            <a:ext cx="73152" cy="960120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50392" y="3392424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Workforce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3758184"/>
            <a:ext cx="493776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32B34"/>
                </a:solidFill>
                <a:latin typeface="Times New Roman"/>
              </a:rPr>
              <a:t>Task completion and pending workload analysis.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300984"/>
            <a:ext cx="521208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8" name="Rectangle 27"/>
          <p:cNvSpPr/>
          <p:nvPr/>
        </p:nvSpPr>
        <p:spPr>
          <a:xfrm>
            <a:off x="6217920" y="3300984"/>
            <a:ext cx="73152" cy="96012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382512" y="3392424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Business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3758184"/>
            <a:ext cx="493776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32B34"/>
                </a:solidFill>
                <a:latin typeface="Times New Roman"/>
              </a:rPr>
              <a:t>Impact KPI framework and before/after process view.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471416"/>
            <a:ext cx="521208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2" name="Rectangle 31"/>
          <p:cNvSpPr/>
          <p:nvPr/>
        </p:nvSpPr>
        <p:spPr>
          <a:xfrm>
            <a:off x="685800" y="4471416"/>
            <a:ext cx="73152" cy="96012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850392" y="4562855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Frontline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4928616"/>
            <a:ext cx="493776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32B34"/>
                </a:solidFill>
                <a:latin typeface="Times New Roman"/>
              </a:rPr>
              <a:t>Contextual task and SOP assistance.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471416"/>
            <a:ext cx="521208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6" name="Rectangle 35"/>
          <p:cNvSpPr/>
          <p:nvPr/>
        </p:nvSpPr>
        <p:spPr>
          <a:xfrm>
            <a:off x="6217920" y="4471416"/>
            <a:ext cx="73152" cy="960120"/>
          </a:xfrm>
          <a:prstGeom prst="rect">
            <a:avLst/>
          </a:prstGeom>
          <a:solidFill>
            <a:srgbClr val="E0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6382512" y="4562855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AI Operations Copilot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4928616"/>
            <a:ext cx="493776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32B34"/>
                </a:solidFill>
                <a:latin typeface="Times New Roman"/>
              </a:rPr>
              <a:t>Natural-language GenAI analysis and recommendations.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FFFFFF"/>
                </a:solidFill>
                <a:latin typeface="Times New Roman"/>
              </a:rPr>
              <a:t>9. SLA Monitoring &amp; Risk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F6973"/>
                </a:solidFill>
                <a:latin typeface="Times New Roman"/>
              </a:rPr>
              <a:t>MacroOps AI • Phase 03 Product Development &amp; Agile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685800" y="1097280"/>
            <a:ext cx="73152" cy="1691640"/>
          </a:xfrm>
          <a:prstGeom prst="rect">
            <a:avLst/>
          </a:prstGeom>
          <a:solidFill>
            <a:srgbClr val="2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5039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Low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Delay &lt; 5 min • 43,824 orders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691640"/>
          </a:xfrm>
          <a:prstGeom prst="rect">
            <a:avLst/>
          </a:prstGeom>
          <a:solidFill>
            <a:srgbClr val="E0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8251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Medium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5 to &lt; 10 min • 33,753 orders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546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6" name="Rectangle 15"/>
          <p:cNvSpPr/>
          <p:nvPr/>
        </p:nvSpPr>
        <p:spPr>
          <a:xfrm>
            <a:off x="685800" y="3154680"/>
            <a:ext cx="73152" cy="1691640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50392" y="32461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High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6118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≥ 10 min • 22,423 orders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1546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0" name="Rectangle 19"/>
          <p:cNvSpPr/>
          <p:nvPr/>
        </p:nvSpPr>
        <p:spPr>
          <a:xfrm>
            <a:off x="6217920" y="3154680"/>
            <a:ext cx="73152" cy="169164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82512" y="32461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Observed KPIs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6118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100,000 total orders • 89.67% SLA breach rate • 6.43 min average delivery delay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FFFFFF"/>
                </a:solidFill>
                <a:latin typeface="Times New Roman"/>
              </a:rPr>
              <a:t>10. Exception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F6973"/>
                </a:solidFill>
                <a:latin typeface="Times New Roman"/>
              </a:rPr>
              <a:t>MacroOps AI • Phase 03 Product Development &amp; Agile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960120"/>
            <a:ext cx="521208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685800" y="960120"/>
            <a:ext cx="73152" cy="96012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50392" y="105156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SLA Breaches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17320"/>
            <a:ext cx="493776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32B34"/>
                </a:solidFill>
                <a:latin typeface="Times New Roman"/>
              </a:rPr>
              <a:t>Orders exceeding promised delivery performance.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960120"/>
            <a:ext cx="521208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2" name="Rectangle 11"/>
          <p:cNvSpPr/>
          <p:nvPr/>
        </p:nvSpPr>
        <p:spPr>
          <a:xfrm>
            <a:off x="6217920" y="960120"/>
            <a:ext cx="73152" cy="96012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82512" y="105156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417320"/>
            <a:ext cx="493776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32B34"/>
                </a:solidFill>
                <a:latin typeface="Times New Roman"/>
              </a:rPr>
              <a:t>Stockouts detected from inventory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130552"/>
            <a:ext cx="521208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6" name="Rectangle 15"/>
          <p:cNvSpPr/>
          <p:nvPr/>
        </p:nvSpPr>
        <p:spPr>
          <a:xfrm>
            <a:off x="685800" y="2130552"/>
            <a:ext cx="73152" cy="960120"/>
          </a:xfrm>
          <a:prstGeom prst="rect">
            <a:avLst/>
          </a:prstGeom>
          <a:solidFill>
            <a:srgbClr val="E0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50392" y="2221992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2587752"/>
            <a:ext cx="493776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32B34"/>
                </a:solidFill>
                <a:latin typeface="Times New Roman"/>
              </a:rPr>
              <a:t>Assignment delay flagged above 15 minutes.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130552"/>
            <a:ext cx="521208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0" name="Rectangle 19"/>
          <p:cNvSpPr/>
          <p:nvPr/>
        </p:nvSpPr>
        <p:spPr>
          <a:xfrm>
            <a:off x="6217920" y="2130552"/>
            <a:ext cx="73152" cy="960120"/>
          </a:xfrm>
          <a:prstGeom prst="rect">
            <a:avLst/>
          </a:prstGeom>
          <a:solidFill>
            <a:srgbClr val="2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82512" y="2221992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Picking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587752"/>
            <a:ext cx="493776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32B34"/>
                </a:solidFill>
                <a:latin typeface="Times New Roman"/>
              </a:rPr>
              <a:t>Delays detected above the 90th percentile.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300984"/>
            <a:ext cx="521208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4" name="Rectangle 23"/>
          <p:cNvSpPr/>
          <p:nvPr/>
        </p:nvSpPr>
        <p:spPr>
          <a:xfrm>
            <a:off x="685800" y="3300984"/>
            <a:ext cx="73152" cy="960120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50392" y="3392424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Workforce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3758184"/>
            <a:ext cx="493776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32B34"/>
                </a:solidFill>
                <a:latin typeface="Times New Roman"/>
              </a:rPr>
              <a:t>Backlog detected above the 90th percentile.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300984"/>
            <a:ext cx="521208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8" name="Rectangle 27"/>
          <p:cNvSpPr/>
          <p:nvPr/>
        </p:nvSpPr>
        <p:spPr>
          <a:xfrm>
            <a:off x="6217920" y="3300984"/>
            <a:ext cx="73152" cy="96012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382512" y="3392424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3758184"/>
            <a:ext cx="493776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32B34"/>
                </a:solidFill>
                <a:latin typeface="Times New Roman"/>
              </a:rPr>
              <a:t>exceptions.csv consolidates detected operational exceptions; 3,408 exceptions were generated.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FFFFFF"/>
                </a:solidFill>
                <a:latin typeface="Times New Roman"/>
              </a:rPr>
              <a:t>11. GenAI + RAG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F6973"/>
                </a:solidFill>
                <a:latin typeface="Times New Roman"/>
              </a:rPr>
              <a:t>MacroOps AI • Phase 03 Product Development &amp; Agile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685800" y="1097280"/>
            <a:ext cx="73152" cy="169164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5039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Knowledge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Project-level delivery-delay SOP covering identification, assignment checks, prioritization, corrective action and prevention.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69164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8251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Implemented keyword-based retrieval selects the most relevant available SOP 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546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6" name="Rectangle 15"/>
          <p:cNvSpPr/>
          <p:nvPr/>
        </p:nvSpPr>
        <p:spPr>
          <a:xfrm>
            <a:off x="685800" y="3154680"/>
            <a:ext cx="73152" cy="1691640"/>
          </a:xfrm>
          <a:prstGeom prst="rect">
            <a:avLst/>
          </a:prstGeom>
          <a:solidFill>
            <a:srgbClr val="E0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50392" y="32461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6118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Retrieved context is passed to GenAI to produce grounded operational assistance.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1546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0" name="Rectangle 19"/>
          <p:cNvSpPr/>
          <p:nvPr/>
        </p:nvSpPr>
        <p:spPr>
          <a:xfrm>
            <a:off x="6217920" y="3154680"/>
            <a:ext cx="73152" cy="1691640"/>
          </a:xfrm>
          <a:prstGeom prst="rect">
            <a:avLst/>
          </a:prstGeom>
          <a:solidFill>
            <a:srgbClr val="2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82512" y="32461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Human Oversight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6118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Operational actions should be reviewed and approved by the responsible manager.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FFFFFF"/>
                </a:solidFill>
                <a:latin typeface="Times New Roman"/>
              </a:rPr>
              <a:t>12. AI Operations Copilot &amp; Frontline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F6973"/>
                </a:solidFill>
                <a:latin typeface="Times New Roman"/>
              </a:rPr>
              <a:t>MacroOps AI • Phase 03 Product Development &amp; Agile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685800" y="1097280"/>
            <a:ext cx="73152" cy="169164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5039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Operations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Natural-language questions • KPI/exception context • root-cause explanation • risk interpretation • recommended 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69164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8251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Frontline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Task support • SOP guidance • exception-resolution assistance • contextual responses • reduced manual lookup.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546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6" name="Rectangle 15"/>
          <p:cNvSpPr/>
          <p:nvPr/>
        </p:nvSpPr>
        <p:spPr>
          <a:xfrm>
            <a:off x="685800" y="3154680"/>
            <a:ext cx="73152" cy="1691640"/>
          </a:xfrm>
          <a:prstGeom prst="rect">
            <a:avLst/>
          </a:prstGeom>
          <a:solidFill>
            <a:srgbClr val="E0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50392" y="32461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Technology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6118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Python • Pandas • Streamlit • Plotly • OpenAI GenAI • RAG knowledge base.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FFFFFF"/>
                </a:solidFill>
                <a:latin typeface="Times New Roman"/>
              </a:rPr>
              <a:t>13. Dashboard &amp;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F6973"/>
                </a:solidFill>
                <a:latin typeface="Times New Roman"/>
              </a:rPr>
              <a:t>MacroOps AI • Phase 03 Product Development &amp; Agile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685800" y="1097280"/>
            <a:ext cx="73152" cy="169164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5039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Manager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KPI monitoring, alerts, exception analysis, recommendations and business impact.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69164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8251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Frontline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Tasks, AI assistance, SOP guidance, exceptions and resolution support.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546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6" name="Rectangle 15"/>
          <p:cNvSpPr/>
          <p:nvPr/>
        </p:nvSpPr>
        <p:spPr>
          <a:xfrm>
            <a:off x="685800" y="3154680"/>
            <a:ext cx="73152" cy="1691640"/>
          </a:xfrm>
          <a:prstGeom prst="rect">
            <a:avLst/>
          </a:prstGeom>
          <a:solidFill>
            <a:srgbClr val="E0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50392" y="32461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Implemented Pages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6118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Executive Dashboard • SLA Monitoring • Exception Management • Inventory • Delivery • Picking • Workforce • Business Impact • Frontline AI • Copilot.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FFFFFF"/>
                </a:solidFill>
                <a:latin typeface="Times New Roman"/>
              </a:rPr>
              <a:t>14. Agile / Scrum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F6973"/>
                </a:solidFill>
                <a:latin typeface="Times New Roman"/>
              </a:rPr>
              <a:t>MacroOps AI • Phase 03 Product Development &amp; Agile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685800" y="1097280"/>
            <a:ext cx="73152" cy="169164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5039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Backlog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Priorities, user stories, acceptance criteria and sprint goals.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69164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8251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Sprint 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Planning → Development → Integration → Review → Feedback → Improvement.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546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6" name="Rectangle 15"/>
          <p:cNvSpPr/>
          <p:nvPr/>
        </p:nvSpPr>
        <p:spPr>
          <a:xfrm>
            <a:off x="685800" y="3154680"/>
            <a:ext cx="73152" cy="1691640"/>
          </a:xfrm>
          <a:prstGeom prst="rect">
            <a:avLst/>
          </a:prstGeom>
          <a:solidFill>
            <a:srgbClr val="E0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50392" y="32461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MVP Priority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6118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P0: Dashboard, SLA, Exceptions, RAG, Copilot. P1: SLA prediction, Frontline AI, multilingual. P2: Voice, Computer Vision, advanced multi-agent.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FFFFFF"/>
                </a:solidFill>
                <a:latin typeface="Times New Roman"/>
              </a:rPr>
              <a:t>15. Testing, UAT &amp; GenAI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F6973"/>
                </a:solidFill>
                <a:latin typeface="Times New Roman"/>
              </a:rPr>
              <a:t>MacroOps AI • Phase 03 Product Development &amp; Agile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685800" y="1097280"/>
            <a:ext cx="73152" cy="169164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5039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Functional, API, integration, error handling, workflow, data and KPI 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69164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8251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GenAI Targets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Accuracy &gt;90% • Groundedness &gt;95% • Hallucination &lt;5% • Retrieval relevance &gt;90% • Response time &lt;5 sec • Satisfaction &gt;4/5.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546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6" name="Rectangle 15"/>
          <p:cNvSpPr/>
          <p:nvPr/>
        </p:nvSpPr>
        <p:spPr>
          <a:xfrm>
            <a:off x="685800" y="3154680"/>
            <a:ext cx="73152" cy="1691640"/>
          </a:xfrm>
          <a:prstGeom prst="rect">
            <a:avLst/>
          </a:prstGeom>
          <a:solidFill>
            <a:srgbClr val="E0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50392" y="32461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UAT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6118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Prepare → Execute → Record → Identify gaps → Fix → Retest → Business approval → Sign-off.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1546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0" name="Rectangle 19"/>
          <p:cNvSpPr/>
          <p:nvPr/>
        </p:nvSpPr>
        <p:spPr>
          <a:xfrm>
            <a:off x="6217920" y="3154680"/>
            <a:ext cx="73152" cy="1691640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82512" y="32461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Status Note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6118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These are project evaluation targets; they are not claimed measured results for the current prototype.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FFFFFF"/>
                </a:solidFill>
                <a:latin typeface="Times New Roman"/>
              </a:rPr>
              <a:t>16.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F6973"/>
                </a:solidFill>
                <a:latin typeface="Times New Roman"/>
              </a:rPr>
              <a:t>MacroOps AI • Phase 03 Product Development &amp; Agile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685800" y="1097280"/>
            <a:ext cx="73152" cy="169164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5039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Key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Exception resolution time • SLA breach rate • Inventory accuracy • Picker productivity.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69164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8251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Decision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Manager investigation time • Training time • AI adoption • Decision-making speed.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546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6" name="Rectangle 15"/>
          <p:cNvSpPr/>
          <p:nvPr/>
        </p:nvSpPr>
        <p:spPr>
          <a:xfrm>
            <a:off x="685800" y="3154680"/>
            <a:ext cx="73152" cy="1691640"/>
          </a:xfrm>
          <a:prstGeom prst="rect">
            <a:avLst/>
          </a:prstGeom>
          <a:solidFill>
            <a:srgbClr val="E0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50392" y="32461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Before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6118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Manual analysis → delayed identification → manual investigation → manual SOP search → reactive action.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1546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0" name="Rectangle 19"/>
          <p:cNvSpPr/>
          <p:nvPr/>
        </p:nvSpPr>
        <p:spPr>
          <a:xfrm>
            <a:off x="6217920" y="3154680"/>
            <a:ext cx="73152" cy="1691640"/>
          </a:xfrm>
          <a:prstGeom prst="rect">
            <a:avLst/>
          </a:prstGeom>
          <a:solidFill>
            <a:srgbClr val="2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82512" y="32461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After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6118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AI monitoring → early risk detection → automated analysis → GenAI explanation → recommendation → human approval → recorded resolution.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FFFFFF"/>
                </a:solidFill>
                <a:latin typeface="Times New Roman"/>
              </a:rPr>
              <a:t>17. Deployment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F6973"/>
                </a:solidFill>
                <a:latin typeface="Times New Roman"/>
              </a:rPr>
              <a:t>MacroOps AI • Phase 03 Product Development &amp; Agile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685800" y="1097280"/>
            <a:ext cx="73152" cy="169164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5039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Deployment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Code → GitHub → Build → Deploy → Test → Monitor → Go Live.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69164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8251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Technical Deliverables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Working Streamlit MVP • source code • datasets • exception dataset • SOP knowledge base • analytics modules.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546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6" name="Rectangle 15"/>
          <p:cNvSpPr/>
          <p:nvPr/>
        </p:nvSpPr>
        <p:spPr>
          <a:xfrm>
            <a:off x="685800" y="3154680"/>
            <a:ext cx="73152" cy="1691640"/>
          </a:xfrm>
          <a:prstGeom prst="rect">
            <a:avLst/>
          </a:prstGeom>
          <a:solidFill>
            <a:srgbClr val="E0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50392" y="32461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Project Deliverables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6118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Research paper on Overleaf • GitHub repository • project management • progress presentations • testing/UAT • deployment • business impact.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FFFFFF"/>
                </a:solidFill>
                <a:latin typeface="Times New Roman"/>
              </a:rPr>
              <a:t>18. Current Implementation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F6973"/>
                </a:solidFill>
                <a:latin typeface="Times New Roman"/>
              </a:rPr>
              <a:t>MacroOps AI • Phase 03 Product Development &amp; Agile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685800" y="1097280"/>
            <a:ext cx="73152" cy="169164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5039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Operational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100,000 orders and 40,000 inventory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691640"/>
          </a:xfrm>
          <a:prstGeom prst="rect">
            <a:avLst/>
          </a:prstGeom>
          <a:solidFill>
            <a:srgbClr val="E0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82512" y="11887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SLA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5544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89.67% SLA breach rate and 6.43 min average delivery delay.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546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6" name="Rectangle 15"/>
          <p:cNvSpPr/>
          <p:nvPr/>
        </p:nvSpPr>
        <p:spPr>
          <a:xfrm>
            <a:off x="685800" y="3154680"/>
            <a:ext cx="73152" cy="169164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50392" y="32461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Inventory / Picking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6118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89.42% inventory accuracy and 13.03 min average pick 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154680"/>
            <a:ext cx="521208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0" name="Rectangle 19"/>
          <p:cNvSpPr/>
          <p:nvPr/>
        </p:nvSpPr>
        <p:spPr>
          <a:xfrm>
            <a:off x="6217920" y="3154680"/>
            <a:ext cx="73152" cy="1691640"/>
          </a:xfrm>
          <a:prstGeom prst="rect">
            <a:avLst/>
          </a:prstGeom>
          <a:solidFill>
            <a:srgbClr val="2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82512" y="324612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Workforce / Exceptions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611880"/>
            <a:ext cx="493776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59,828 pending tasks and 3,408 operational exceptions.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FFFFFF"/>
                </a:solidFill>
                <a:latin typeface="Times New Roman"/>
              </a:rPr>
              <a:t>19. 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914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5F6973"/>
                </a:solidFill>
                <a:latin typeface="Times New Roman"/>
              </a:rPr>
              <a:t>MacroOps AI • Phase 03 Product Development &amp; Agile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1051560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685800" y="1097280"/>
            <a:ext cx="73152" cy="1691640"/>
          </a:xfrm>
          <a:prstGeom prst="rect">
            <a:avLst/>
          </a:prstGeom>
          <a:solidFill>
            <a:srgbClr val="2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50392" y="118872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554480"/>
            <a:ext cx="1024128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MacroOps AI demonstrates an integrated MVP combining analytics, exception management, SLA risk classification, RAG, GenAI and frontline support.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54680"/>
            <a:ext cx="1051560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2" name="Rectangle 11"/>
          <p:cNvSpPr/>
          <p:nvPr/>
        </p:nvSpPr>
        <p:spPr>
          <a:xfrm>
            <a:off x="685800" y="3154680"/>
            <a:ext cx="73152" cy="169164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50392" y="324612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42440"/>
                </a:solidFill>
                <a:latin typeface="Times New Roman"/>
              </a:rPr>
              <a:t>Future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611880"/>
            <a:ext cx="10241280" cy="11612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32B34"/>
                </a:solidFill>
                <a:latin typeface="Times New Roman"/>
              </a:rPr>
              <a:t>Multilingual interaction • Voice • Computer Vision • Advanced multi-agent architecture • deeper predictive intelligence • production deployment and monitoring • formal UAT and GenAI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